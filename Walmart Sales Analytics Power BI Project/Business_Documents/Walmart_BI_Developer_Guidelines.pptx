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1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0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1C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4F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D0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Home Goods</c:v>
                  </c:pt>
                  <c:pt idx="3">
                    <c:v>Books</c:v>
                  </c:pt>
                  <c:pt idx="4">
                    <c:v>Office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172</c:v>
                </c:pt>
                <c:pt idx="1">
                  <c:v>158</c:v>
                </c:pt>
                <c:pt idx="2">
                  <c:v>143</c:v>
                </c:pt>
                <c:pt idx="3">
                  <c:v>126</c:v>
                </c:pt>
                <c:pt idx="4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0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Revenue</c:v>
                </c:pt>
              </c:strCache>
            </c:strRef>
          </c:tx>
          <c:spPr>
            <a:solidFill>
              <a:srgbClr val="0071CE"/>
            </a:solidFill>
            <a:ln w="31750" cap="flat">
              <a:solidFill>
                <a:srgbClr val="0071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1CE"/>
              </a:solidFill>
              <a:ln w="9525" cap="flat">
                <a:solidFill>
                  <a:srgbClr val="0071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</c:v>
                </c:pt>
                <c:pt idx="1">
                  <c:v>63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80</c:v>
                </c:pt>
                <c:pt idx="6">
                  <c:v>77</c:v>
                </c:pt>
                <c:pt idx="7">
                  <c:v>83</c:v>
                </c:pt>
                <c:pt idx="8">
                  <c:v>88</c:v>
                </c:pt>
                <c:pt idx="9">
                  <c:v>91</c:v>
                </c:pt>
                <c:pt idx="10">
                  <c:v>95</c:v>
                </c:pt>
                <c:pt idx="11">
                  <c:v>102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 Revenue (LY)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44</c:v>
                </c:pt>
                <c:pt idx="1">
                  <c:v>48</c:v>
                </c:pt>
                <c:pt idx="2">
                  <c:v>53</c:v>
                </c:pt>
                <c:pt idx="3">
                  <c:v>51</c:v>
                </c:pt>
                <c:pt idx="4">
                  <c:v>57</c:v>
                </c:pt>
                <c:pt idx="5">
                  <c:v>61</c:v>
                </c:pt>
                <c:pt idx="6">
                  <c:v>59</c:v>
                </c:pt>
                <c:pt idx="7">
                  <c:v>64</c:v>
                </c:pt>
                <c:pt idx="8">
                  <c:v>67</c:v>
                </c:pt>
                <c:pt idx="9">
                  <c:v>70</c:v>
                </c:pt>
                <c:pt idx="10">
                  <c:v>74</c:v>
                </c:pt>
                <c:pt idx="11">
                  <c:v>79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1CE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004F9A"/>
              </a:solidFill>
              <a:effectLst/>
            </c:spPr>
          </c:dPt>
          <c:dPt>
            <c:idx val="3"/>
            <c:bubble3D val="0"/>
            <c:spPr>
              <a:solidFill>
                <a:srgbClr val="00A8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20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20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20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20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225</c:v>
                </c:pt>
                <c:pt idx="1">
                  <c:v>198</c:v>
                </c:pt>
                <c:pt idx="2">
                  <c:v>187</c:v>
                </c:pt>
                <c:pt idx="3">
                  <c:v>170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4023360" cy="164592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0"/>
            <a:ext cx="91440" cy="514350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0292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92608" y="12435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Corporation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627632"/>
            <a:ext cx="2560320" cy="365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82880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2608" y="223113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Guidelines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2608" y="26883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 ·  Charts  ·  Typography  ·  Layout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477316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February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3200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640080"/>
            <a:ext cx="4480560" cy="27432"/>
          </a:xfrm>
          <a:prstGeom prst="rect">
            <a:avLst/>
          </a:prstGeom>
          <a:solidFill>
            <a:srgbClr val="D1DFF0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713232"/>
            <a:ext cx="44805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8046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804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 Palette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133856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2252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1225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Surface Colours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554480"/>
            <a:ext cx="44805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6459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1645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Colour Usage Rules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1975104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2066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066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Column Chart Standards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2395728"/>
            <a:ext cx="44805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2487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2487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&amp; Area Chart Standards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2816352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29077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2907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Donut, Pie &amp; KPI Card Standards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3236976"/>
            <a:ext cx="44805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33284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328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Matrix Standards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43400" y="3657600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Font Rules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43400" y="4078224"/>
            <a:ext cx="44805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4169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Spacing Guidelines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43400" y="4498848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4590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&amp; Don'ts Quick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Brand Colour Palette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Walmart brand colours — use these exclusively across all Power BI reports.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32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042416"/>
            <a:ext cx="1298448" cy="566928"/>
          </a:xfrm>
          <a:prstGeom prst="rect">
            <a:avLst/>
          </a:prstGeom>
          <a:solidFill>
            <a:srgbClr val="0071CE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276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#0071CE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8105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Blue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9751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brand colour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19072" y="1042416"/>
            <a:ext cx="1298448" cy="566928"/>
          </a:xfrm>
          <a:prstGeom prst="rect">
            <a:avLst/>
          </a:prstGeom>
          <a:solidFill>
            <a:srgbClr val="004F9A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16276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#004F9A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9072" y="18105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9072" y="19751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banners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45536" y="1042416"/>
            <a:ext cx="1298448" cy="566928"/>
          </a:xfrm>
          <a:prstGeom prst="rect">
            <a:avLst/>
          </a:prstGeom>
          <a:solidFill>
            <a:srgbClr val="FFC220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6276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#FFC220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5536" y="18105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Yellow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45536" y="19751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&amp; highlights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042416"/>
            <a:ext cx="12984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6276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8105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19751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2608" y="2304288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31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CHART COLOURS  —  USE IN THIS ORDER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" y="2542032"/>
            <a:ext cx="1298448" cy="566928"/>
          </a:xfrm>
          <a:prstGeom prst="rect">
            <a:avLst/>
          </a:prstGeom>
          <a:solidFill>
            <a:srgbClr val="0071CE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#0071CE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19072" y="2542032"/>
            <a:ext cx="129844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19072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#F5A623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19072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19072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45536" y="2542032"/>
            <a:ext cx="1298448" cy="566928"/>
          </a:xfrm>
          <a:prstGeom prst="rect">
            <a:avLst/>
          </a:prstGeom>
          <a:solidFill>
            <a:srgbClr val="004F9A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#004F9A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45536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45536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2542032"/>
            <a:ext cx="129844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#00A896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98464" y="2542032"/>
            <a:ext cx="1298448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#E85D04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98464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98464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24928" y="2542032"/>
            <a:ext cx="129844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24928" y="31272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#059669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24928" y="33101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24928" y="34747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6 / Good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2608" y="3785616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SENTIMENT COLOURS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2608" y="4005072"/>
            <a:ext cx="129844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4480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Growth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2608" y="464515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#059669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19072" y="4005072"/>
            <a:ext cx="129844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19072" y="4480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/ Warning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719072" y="464515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#D97706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45536" y="4005072"/>
            <a:ext cx="129844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45536" y="4480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/ Decline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45536" y="464515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#DC2626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Background &amp; Surface Colours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layered surfaces to create depth — page canvas, visual card, alternating rows, headers.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14400"/>
            <a:ext cx="2487168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007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#F7F9FC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07568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canvas (all pages)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25856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slide.background = { color: 'F7F9FC' }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45536" y="82296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914400"/>
            <a:ext cx="2487168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7007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36976" y="1892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Background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207568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chart area fill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36976" y="225856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chartArea: { fill: { color: 'FFFFFF' } }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98464" y="82296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914400"/>
            <a:ext cx="2487168" cy="749808"/>
          </a:xfrm>
          <a:prstGeom prst="rect">
            <a:avLst/>
          </a:prstGeom>
          <a:solidFill>
            <a:srgbClr val="F0F4FB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7007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#F0F4FB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9904" y="1892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Row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9904" y="207568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table rows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89904" y="225856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altBackColor: 'F0F4FB'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292608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017520"/>
            <a:ext cx="2487168" cy="749808"/>
          </a:xfrm>
          <a:prstGeom prst="rect">
            <a:avLst/>
          </a:prstGeom>
          <a:solidFill>
            <a:srgbClr val="D1DFF0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039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#D1DFF0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" y="39959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/ Grid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178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borders &amp; gridlines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36168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line: { color: 'D1DFF0' }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45536" y="292608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36976" y="3017520"/>
            <a:ext cx="2487168" cy="749808"/>
          </a:xfrm>
          <a:prstGeom prst="rect">
            <a:avLst/>
          </a:prstGeom>
          <a:solidFill>
            <a:srgbClr val="EEF3FB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38039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#EEF3FB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36976" y="39959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Strip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36976" y="4178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backgrounds &amp; highlights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36976" y="436168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{ color: 'EEF3FB' }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998464" y="2926080"/>
            <a:ext cx="2670048" cy="1938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3017520"/>
            <a:ext cx="2487168" cy="749808"/>
          </a:xfrm>
          <a:prstGeom prst="rect">
            <a:avLst/>
          </a:prstGeom>
          <a:solidFill>
            <a:srgbClr val="0071CE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32461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9904" y="38039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#0071CE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89904" y="39959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9904" y="4178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headers, page header bar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89904" y="4361688"/>
            <a:ext cx="24871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backColor: '0071CE'  +  color: 'FFFFFF'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Chart Colour Usage Rules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colour application across all chart types — follow these rules without exception.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32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PALETTE — USE IN THIS ORDER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042416"/>
            <a:ext cx="969264" cy="457200"/>
          </a:xfrm>
          <a:prstGeom prst="rect">
            <a:avLst/>
          </a:prstGeom>
          <a:solidFill>
            <a:srgbClr val="0071CE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#0071CE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62456" y="1042416"/>
            <a:ext cx="969264" cy="457200"/>
          </a:xfrm>
          <a:prstGeom prst="rect">
            <a:avLst/>
          </a:prstGeom>
          <a:solidFill>
            <a:srgbClr val="F5A623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62456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#F5A623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32304" y="1042416"/>
            <a:ext cx="969264" cy="457200"/>
          </a:xfrm>
          <a:prstGeom prst="rect">
            <a:avLst/>
          </a:prstGeom>
          <a:solidFill>
            <a:srgbClr val="004F9A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5536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32304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#004F9A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02152" y="1042416"/>
            <a:ext cx="969264" cy="457200"/>
          </a:xfrm>
          <a:prstGeom prst="rect">
            <a:avLst/>
          </a:prstGeom>
          <a:solidFill>
            <a:srgbClr val="00A896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15384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15384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02152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#00A896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0" y="1042416"/>
            <a:ext cx="969264" cy="457200"/>
          </a:xfrm>
          <a:prstGeom prst="rect">
            <a:avLst/>
          </a:prstGeom>
          <a:solidFill>
            <a:srgbClr val="E85D04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#E85D04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41848" y="1042416"/>
            <a:ext cx="969264" cy="457200"/>
          </a:xfrm>
          <a:prstGeom prst="rect">
            <a:avLst/>
          </a:prstGeom>
          <a:solidFill>
            <a:srgbClr val="059669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41848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#059669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6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11696" y="1042416"/>
            <a:ext cx="969264" cy="457200"/>
          </a:xfrm>
          <a:prstGeom prst="rect">
            <a:avLst/>
          </a:prstGeom>
          <a:solidFill>
            <a:srgbClr val="DC2626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11696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#DC2626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781544" y="1042416"/>
            <a:ext cx="969264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94776" y="1042416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10607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81544" y="1527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#7C3AED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8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92608" y="2029968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COLOURING RULES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2608" y="2267712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2608" y="2267712"/>
            <a:ext cx="64008" cy="118872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Series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8912" y="2587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Walmart Blue (#0071CE). Never use Yellow as the primary fill — it is for accents only.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5536" y="2267712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45536" y="2267712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Series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91840" y="2587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8-colour palette order (left to right). Never assign colours randomly.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98464" y="2267712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98464" y="2267712"/>
            <a:ext cx="6400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Bad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44768" y="2587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(#059669) = positive. Red (#DC2626) = negative. Never reverse — universally understood.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2608" y="3566160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92608" y="3566160"/>
            <a:ext cx="64008" cy="118872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648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" y="38862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(#FFC220) is for highlighting one selected bar only. Not a standard series colour.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145536" y="3566160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145536" y="3566160"/>
            <a:ext cx="64008" cy="1188720"/>
          </a:xfrm>
          <a:prstGeom prst="rect">
            <a:avLst/>
          </a:prstGeom>
          <a:solidFill>
            <a:srgbClr val="004F9A"/>
          </a:solidFill>
          <a:ln w="12700">
            <a:solidFill>
              <a:srgbClr val="004F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3648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91840" y="38862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Increase: #059669 green. Decrease: #DC2626 red. Total: #0071CE blue. Always use this mapping.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98464" y="3566160"/>
            <a:ext cx="2670048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998464" y="3566160"/>
            <a:ext cx="64008" cy="1188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4768" y="3648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44768" y="38862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gradient fills. Solid colours only. Gradients reduce legibility on printed reports.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Bar &amp; Column Chart Standards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exact settings to every bar and column chart across the report.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416052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859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Revenue by Category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38328" y="1097280"/>
          <a:ext cx="4023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45152" y="768096"/>
            <a:ext cx="4187952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8321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 Fill: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36208" y="83210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#FFFFFF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45152" y="113385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119786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Colours: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236208" y="11978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order; single = #0071CE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45152" y="1499616"/>
            <a:ext cx="4187952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6592" y="15636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Axis: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1563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#6B7280  |  No gridlines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45152" y="186537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19293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Axis: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36208" y="19293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#6B7280  |  Gridline #E5EAF2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45152" y="2231136"/>
            <a:ext cx="4187952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2295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Lines: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36208" y="22951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both (valAxisLineShow: false)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45152" y="259689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26609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Labels: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236208" y="266090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|  Dark #1A202C  |  9pt Calibri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45152" y="2962656"/>
            <a:ext cx="4187952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6592" y="302666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36208" y="30266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single series  |  Bottom for multi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45152" y="332841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592" y="33924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Order: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236208" y="33924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by value (unless time-based)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45152" y="3694176"/>
            <a:ext cx="4187952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37581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236208" y="37581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1pt #D1DFF0 with light outer shadow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45152" y="405993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592" y="41239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236208" y="41239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11pt #1A202C above each visual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Line &amp; Area Chart Standards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and time-series — line chart for comparisons, area chart for single-series fill.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8558784" cy="2487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8595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Revenue Trend — Current Year vs Prior Year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38328" y="1097280"/>
          <a:ext cx="8412480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3419856"/>
            <a:ext cx="64008" cy="109728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2.5pt primary 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1.5pt secondary / LY 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45536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45536" y="3419856"/>
            <a:ext cx="64008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(lineSmooth: 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trends easier to read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98464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98464" y="3419856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44768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year: #0071CE Blue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 (LY): #F5A623 Amber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2608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92608" y="4608576"/>
            <a:ext cx="64008" cy="10972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OFF for dense datasets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label at final data point only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45536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45536" y="4608576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0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Area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91840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charts: fill at 30% opacity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single-series revenue trend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998464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98464" y="4608576"/>
            <a:ext cx="64008" cy="1097280"/>
          </a:xfrm>
          <a:prstGeom prst="rect">
            <a:avLst/>
          </a:prstGeom>
          <a:solidFill>
            <a:srgbClr val="004F9A"/>
          </a:solidFill>
          <a:ln w="12700">
            <a:solidFill>
              <a:srgbClr val="004F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4768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44768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axis: no gridlines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axis: gridline #E5EAF2  0.5pt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Donut, Pie &amp; KPI Card Standards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are the most prominent visuals — apply these rules to all cards and ratio charts.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27432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8595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38328" y="1097280"/>
          <a:ext cx="2606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246120" y="768096"/>
            <a:ext cx="2706624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55848" y="85953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/ Pie Rules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706624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2527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Size: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15968" y="12527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55–60%  (DOUGHNUT, not PIE)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664208"/>
            <a:ext cx="2706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17282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315968" y="17282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order, max 6 segments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46120" y="2139696"/>
            <a:ext cx="2706624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22037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15968" y="22037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% only, hide category name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46120" y="2615184"/>
            <a:ext cx="2706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26791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15968" y="26791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Bottom, 8.5pt Calibri #6B7280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46120" y="3090672"/>
            <a:ext cx="2706624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7560" y="3154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Gap: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315968" y="3154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 gap between slices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46120" y="3566160"/>
            <a:ext cx="2706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7560" y="36301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Segments: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315968" y="3630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max — group rest as 'Other'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089904" y="786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STANDARD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71616" y="1042416"/>
            <a:ext cx="27614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71616" y="1042416"/>
            <a:ext cx="276148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63056" y="115214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63056" y="13350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$779.8M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163056" y="181965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33.2%  YoY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071616" y="2377440"/>
            <a:ext cx="27614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071616" y="2377440"/>
            <a:ext cx="276148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63056" y="248716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63056" y="26700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38.3%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6163056" y="315468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2.1pp  YoY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071616" y="3712464"/>
            <a:ext cx="27614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071616" y="3712464"/>
            <a:ext cx="276148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63056" y="382219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163056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$1,390</a:t>
            </a: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6163056" y="44897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1.8%  YoY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Table &amp; Matrix Standards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all default Power BI table styling — never leave tables in the out-of-the-box state.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8558784" cy="2487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8595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Store Type Performance Table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72768"/>
                <a:gridCol w="1572768"/>
                <a:gridCol w="1572768"/>
                <a:gridCol w="15179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$218.4M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157,230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$197.2M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142,100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Dept.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$173.6M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124,880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4F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4F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$779.8M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4F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561,290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4F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3419856"/>
            <a:ext cx="64008" cy="109728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#0071CE  |  Text: White Bold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bottom border — rely on colour contrast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45536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45536" y="3419856"/>
            <a:ext cx="64008" cy="10972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Rows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rows: #FFFFFF  |  Even rows: #F0F4FB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height: 0.3" minimum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98464" y="341985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98464" y="3419856"/>
            <a:ext cx="64008" cy="109728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44768" y="37398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#D6E8F9 light blue  |  Text: #004F9A Bold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pin totals to the bottom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2608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92608" y="4608576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Columns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Right-align numbers &amp; currency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 text / category columns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45536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45536" y="4608576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0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Colour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91840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values: #059669 green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values: #DC2626 red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998464" y="4608576"/>
            <a:ext cx="2670048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98464" y="4608576"/>
            <a:ext cx="64008" cy="1097280"/>
          </a:xfrm>
          <a:prstGeom prst="rect">
            <a:avLst/>
          </a:prstGeom>
          <a:solidFill>
            <a:srgbClr val="D1DFF0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4768" y="4690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Lines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44768" y="49286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#D1DFF0  0.5pt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gridlines: hide (turn off)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Typography &amp; Font Rules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is the only permitted font. Follow the size hierarchy exactly — never mix typefaces.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32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042416"/>
            <a:ext cx="4133088" cy="3474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15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75688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28pt  Bold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54096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$779.8M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08576" y="1042416"/>
            <a:ext cx="41330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115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Title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91656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13pt  Bold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70064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" y="1444752"/>
            <a:ext cx="4133088" cy="3474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5179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75688" y="1517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12pt  Bold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54096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1444752"/>
            <a:ext cx="41330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5179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Labels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656" y="1517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70064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 Feb  Mar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" y="1847088"/>
            <a:ext cx="4133088" cy="3474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75688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54096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08576" y="1847088"/>
            <a:ext cx="41330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91656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0064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Hypermarket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" y="2249424"/>
            <a:ext cx="4133088" cy="3474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3225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75688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Bold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5808" y="2249424"/>
            <a:ext cx="1389888" cy="347472"/>
          </a:xfrm>
          <a:prstGeom prst="rect">
            <a:avLst/>
          </a:prstGeom>
          <a:solidFill>
            <a:srgbClr val="0071CE"/>
          </a:solidFill>
          <a:ln w="12700">
            <a:solidFill>
              <a:srgbClr val="D1DF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54096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2249424"/>
            <a:ext cx="41330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3225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/ Caption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91656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9pt  Regular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70064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Revenue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" y="2651760"/>
            <a:ext cx="4133088" cy="3474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Change Label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75688" y="2724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12pt  Bold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54096" y="2688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33.2%  YoY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08576" y="2651760"/>
            <a:ext cx="41330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Text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91656" y="2724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9pt  Regular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70064" y="2688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Year: $585.4M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2608" y="4572000"/>
            <a:ext cx="2377440" cy="219456"/>
          </a:xfrm>
          <a:prstGeom prst="rect">
            <a:avLst/>
          </a:prstGeom>
          <a:solidFill>
            <a:srgbClr val="FFF3CC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5994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FORMATTING STANDARDS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" y="4791456"/>
            <a:ext cx="8558784" cy="274320"/>
          </a:xfrm>
          <a:prstGeom prst="rect">
            <a:avLst/>
          </a:prstGeom>
          <a:solidFill>
            <a:srgbClr val="EEF3FB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48188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revenue: $779.8M or $1.2B   |   Small: $1,390 (no abbrev under $10K)   |   Percentages: 38.3% (1 decimal)   |   YoY: +33.2% or -1.8% (show sign)   |   Rank: #1, #2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Layout &amp; Spacing Guidelines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spacing and alignment make the report feel polished and professional.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4169664" cy="422452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859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CANVAS ANATOMY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2336" y="1097280"/>
            <a:ext cx="3931920" cy="420624"/>
          </a:xfrm>
          <a:prstGeom prst="rect">
            <a:avLst/>
          </a:prstGeom>
          <a:solidFill>
            <a:srgbClr val="0071CE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  —  Walmart Blue #0071CE  |  height: 50px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02336" y="1609344"/>
            <a:ext cx="393192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10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Row  —  5 equal-width cards  |  0.1" gap between each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02336" y="2267712"/>
            <a:ext cx="1856232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68296" y="2267712"/>
            <a:ext cx="1856232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8712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 (2-col)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28712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 (2-col)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336" y="3675888"/>
            <a:ext cx="3931920" cy="548640"/>
          </a:xfrm>
          <a:prstGeom prst="rect">
            <a:avLst/>
          </a:prstGeom>
          <a:solidFill>
            <a:srgbClr val="FFF3CC"/>
          </a:solidFill>
          <a:ln w="19050">
            <a:solidFill>
              <a:srgbClr val="FFC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Row  (top or bottom)  —  highlighted border #FFC220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45152" y="768096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768096"/>
            <a:ext cx="64008" cy="131673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85039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108813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 px  (16:9)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View &gt; Page view &gt; Page size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76288" y="768096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76288" y="768096"/>
            <a:ext cx="64008" cy="131673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85039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Margins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22592" y="108813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0.15" from all canvas edges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should touch the border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194560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194560"/>
            <a:ext cx="64008" cy="1316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27685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1456" y="2514600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0.10" between all adjacent visuals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overlap or let visuals touch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76288" y="2194560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76288" y="2194560"/>
            <a:ext cx="64008" cy="13167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227685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Width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2592" y="2514600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equal-width cards per row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19.5% of canvas width each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3621024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45152" y="3621024"/>
            <a:ext cx="64008" cy="1316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7033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Height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91456" y="3941064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header: 50–60px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title: 28–32px above chart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621024"/>
            <a:ext cx="2139696" cy="13167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76288" y="3621024"/>
            <a:ext cx="64008" cy="1316736"/>
          </a:xfrm>
          <a:prstGeom prst="rect">
            <a:avLst/>
          </a:prstGeom>
          <a:solidFill>
            <a:srgbClr val="004F9A"/>
          </a:solidFill>
          <a:ln w="12700">
            <a:solidFill>
              <a:srgbClr val="004F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22592" y="37033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Placement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22592" y="3941064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— top or bottom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break chart grid for slicers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Do's &amp; Don'ts Quick Reference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checklist before every publish. Violations of these rules result in rework.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" y="768096"/>
            <a:ext cx="4169664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1133856"/>
            <a:ext cx="4169664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3385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17043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Walmart Blue (#0071CE) as the primary chart colour for all single-series visuals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92608" y="1499616"/>
            <a:ext cx="41696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49961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53619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light background #F7F9FC to the report canvas — this is a white-theme report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2608" y="1865376"/>
            <a:ext cx="4169664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86537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90195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YoY change with green ▲ / red ▼ colour-coded indicators on all KPI cards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" y="2231136"/>
            <a:ext cx="41696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23113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2677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Calibri exclusively — titles bold, body text regular, captions 9pt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92608" y="2596896"/>
            <a:ext cx="4169664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59689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6334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bar charts by value descending unless the axis represents time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92608" y="2962656"/>
            <a:ext cx="41696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96265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99923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#059669 green for positive/growth and #DC2626 red for negative/decline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92608" y="3328416"/>
            <a:ext cx="4169664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332841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36499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0.10" gap between all adjacent visuals — never let visuals touch each other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92608" y="3694176"/>
            <a:ext cx="41696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69417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73075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percentage only on donut chart labels — hide category name from labels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92608" y="4059936"/>
            <a:ext cx="4169664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405993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965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conditional formatting on YoY columns in all tables and matrices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92608" y="4425696"/>
            <a:ext cx="41696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6F0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425696"/>
            <a:ext cx="54864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4622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Abbreviate large numbers: $779.8M or $1.2B — never write $779,800,000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681728" y="768096"/>
            <a:ext cx="4151376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81728" y="1133856"/>
            <a:ext cx="4151376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113385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11704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dark or black backgrounds — this report uses a clean white theme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681728" y="1499616"/>
            <a:ext cx="415137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149961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15361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chart colours randomly — always follow the 8-colour palette order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4681728" y="1865376"/>
            <a:ext cx="4151376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186537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19019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Yellow (#FFC220) as a standard series colour — accent and highlight only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681728" y="2231136"/>
            <a:ext cx="415137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1728" y="223113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2267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apply gradient fills to any chart area or visual background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681728" y="2596896"/>
            <a:ext cx="4151376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259689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263347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show more than 6 segments in a donut or pie chart — group excess as 'Other'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681728" y="2962656"/>
            <a:ext cx="415137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81728" y="296265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9744" y="29992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centre-align body text or table body values — left/right alignment only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4681728" y="3328416"/>
            <a:ext cx="4151376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81728" y="332841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9744" y="33649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default Power BI table styling — override header, rows, and totals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681728" y="3694176"/>
            <a:ext cx="415137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81728" y="369417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37307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decorative drop shadows, glow effects, or 3D chart styles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681728" y="4059936"/>
            <a:ext cx="4151376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81728" y="405993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9744" y="40965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Arial, Segoe UI, or any font other than Calibri in any visual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681728" y="4425696"/>
            <a:ext cx="415137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BCEC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81728" y="4425696"/>
            <a:ext cx="54864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9744" y="446227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publish without verifying all 6 slicers are synced across both report pages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Power BI Developer Guidelines</dc:title>
  <dc:subject>PptxGenJS Presentation</dc:subject>
  <dc:creator>Walmart Analytics Team</dc:creator>
  <cp:lastModifiedBy>Walmart Analytics Team</cp:lastModifiedBy>
  <cp:revision>1</cp:revision>
  <dcterms:created xsi:type="dcterms:W3CDTF">2026-03-04T05:38:56Z</dcterms:created>
  <dcterms:modified xsi:type="dcterms:W3CDTF">2026-03-04T05:38:56Z</dcterms:modified>
</cp:coreProperties>
</file>